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Grant Deployment Breakdown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Grant Deployment</c:v>
                </c:pt>
              </c:strCache>
            </c:strRef>
          </c:tx>
          <c:dPt>
            <c:idx val="0"/>
            <c:spPr>
              <a:solidFill>
                <a:srgbClr val="D57028"/>
              </a:solidFill>
            </c:spPr>
          </c:dPt>
          <c:dPt>
            <c:idx val="1"/>
            <c:spPr>
              <a:solidFill>
                <a:srgbClr val="717E36"/>
              </a:solidFill>
            </c:spPr>
          </c:dPt>
          <c:dPt>
            <c:idx val="2"/>
            <c:spPr>
              <a:solidFill>
                <a:srgbClr val="AF8145"/>
              </a:solidFill>
            </c:spPr>
          </c:dPt>
          <c:cat>
            <c:strRef>
              <c:f>Sheet1!$A$2:$A$4</c:f>
              <c:strCache>
                <c:ptCount val="3"/>
                <c:pt idx="0">
                  <c:v>Standard Grants (76.8%)</c:v>
                </c:pt>
                <c:pt idx="1">
                  <c:v>Pitch Competition Awards (12.0%)</c:v>
                </c:pt>
                <c:pt idx="2">
                  <c:v>Micro / Mini Grants (11.2%)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76.8</c:v>
                </c:pt>
                <c:pt idx="1">
                  <c:v>12.0</c:v>
                </c:pt>
                <c:pt idx="2">
                  <c:v>11.2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Programming Mix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Programming Mix</c:v>
                </c:pt>
              </c:strCache>
            </c:strRef>
          </c:tx>
          <c:spPr>
            <a:solidFill>
              <a:srgbClr val="D57028"/>
            </a:solidFill>
          </c:spPr>
          <c:cat>
            <c:strRef>
              <c:f>Sheet1!$A$2:$A$3</c:f>
              <c:strCache>
                <c:ptCount val="2"/>
                <c:pt idx="0">
                  <c:v>In-Person</c:v>
                </c:pt>
                <c:pt idx="1">
                  <c:v>Virtual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51.85</c:v>
                </c:pt>
                <c:pt idx="1">
                  <c:v>48.15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D57028"/>
                </a:solidFill>
                <a:latin typeface="Arial"/>
              </a:defRPr>
            </a:pPr>
            <a:r>
              <a:t>SENGO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Impact Report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03120" cy="508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566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3EDE7"/>
                </a:solidFill>
                <a:latin typeface="Arial"/>
              </a:defRPr>
            </a:pPr>
            <a:r>
              <a:t>Turning Community Into Capital — Through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F8145"/>
                </a:solidFill>
                <a:latin typeface="Arial"/>
              </a:defRPr>
            </a:pPr>
            <a:r>
              <a:t>Building informed founders, prepared funders, and durable ecosystems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F8145"/>
                </a:solidFill>
                <a:latin typeface="Arial"/>
              </a:defRPr>
            </a:pPr>
            <a:r>
              <a:t>Founded by Ila B. Corcoran  |  2025 Year in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94500"/>
            <a:ext cx="12191695" cy="635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57028"/>
                </a:solidFill>
                <a:latin typeface="Arial"/>
              </a:defRPr>
            </a:pPr>
            <a:r>
              <a:t>YEAR IN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B3533"/>
                </a:solidFill>
                <a:latin typeface="Arial"/>
              </a:defRPr>
            </a:pPr>
            <a:r>
              <a:t>From Experimentation to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2103120" cy="508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23847" y="2377440"/>
            <a:ext cx="9144000" cy="548640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8167" y="245059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3EDE7"/>
                </a:solidFill>
                <a:latin typeface="Arial"/>
              </a:defRPr>
            </a:pPr>
            <a:r>
              <a:t>2025 marked Sengo's official platform launch and first grant-funded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23847" y="3063240"/>
            <a:ext cx="9144000" cy="548640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98167" y="313639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3EDE7"/>
                </a:solidFill>
                <a:latin typeface="Arial"/>
              </a:defRPr>
            </a:pPr>
            <a:r>
              <a:t>Transitioned from research and pilots (2024) to repeatable, technology-enabled programs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23847" y="3749040"/>
            <a:ext cx="9144000" cy="548640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98167" y="382219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3EDE7"/>
                </a:solidFill>
                <a:latin typeface="Arial"/>
              </a:defRPr>
            </a:pPr>
            <a:r>
              <a:t>Introduced readiness tools that help founders assess, prepare, and decide if and when to raise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23847" y="4434840"/>
            <a:ext cx="9144000" cy="548640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8167" y="450799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3EDE7"/>
                </a:solidFill>
                <a:latin typeface="Arial"/>
              </a:defRPr>
            </a:pPr>
            <a:r>
              <a:t>Served founders, funders, and partners across the U.S. and internationally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23847" y="5303520"/>
            <a:ext cx="9144000" cy="640080"/>
          </a:xfrm>
          <a:prstGeom prst="round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98167" y="53949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Core shift:  From "access to capital" → readiness for capital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5702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Headline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2103120" cy="508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847" y="2377440"/>
            <a:ext cx="2103120" cy="182880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847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57028"/>
                </a:solidFill>
                <a:latin typeface="Arial"/>
              </a:defRPr>
            </a:pPr>
            <a:r>
              <a:t>600+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847" y="32918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EDE7"/>
                </a:solidFill>
                <a:latin typeface="Arial"/>
              </a:defRPr>
            </a:pPr>
            <a:r>
              <a:t>Members across</a:t>
            </a:r>
            <a:br/>
            <a:r>
              <a:t>Explorer, Founder,</a:t>
            </a:r>
            <a:br/>
            <a:r>
              <a:t>Funder &amp; All-Access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2567" y="2377440"/>
            <a:ext cx="2103120" cy="182880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567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57028"/>
                </a:solidFill>
                <a:latin typeface="Arial"/>
              </a:defRPr>
            </a:pPr>
            <a:r>
              <a:t>8,000+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2567" y="32918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EDE7"/>
                </a:solidFill>
                <a:latin typeface="Arial"/>
              </a:defRPr>
            </a:pPr>
            <a:r>
              <a:t>Email Subscribers</a:t>
            </a:r>
            <a:br/>
            <a:r>
              <a:t>(from 157 in</a:t>
            </a:r>
            <a:br/>
            <a:r>
              <a:t>Jan 2025)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4287" y="2377440"/>
            <a:ext cx="2103120" cy="182880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4287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57028"/>
                </a:solidFill>
                <a:latin typeface="Arial"/>
              </a:defRPr>
            </a:pPr>
            <a:r>
              <a:t>$31,250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4287" y="32918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EDE7"/>
                </a:solidFill>
                <a:latin typeface="Arial"/>
              </a:defRPr>
            </a:pPr>
            <a:r>
              <a:t>Grants Deployed to</a:t>
            </a:r>
            <a:br/>
            <a:r>
              <a:t>Underrepresented</a:t>
            </a:r>
            <a:br/>
            <a:r>
              <a:t>Founders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76007" y="2377440"/>
            <a:ext cx="2103120" cy="182880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6007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57028"/>
                </a:solidFill>
                <a:latin typeface="Arial"/>
              </a:defRPr>
            </a:pPr>
            <a:r>
              <a:t>$5M+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6007" y="32918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EDE7"/>
                </a:solidFill>
                <a:latin typeface="Arial"/>
              </a:defRPr>
            </a:pPr>
            <a:r>
              <a:t>Follow-on Capital</a:t>
            </a:r>
            <a:br/>
            <a:r>
              <a:t>Influenced by</a:t>
            </a:r>
            <a:br/>
            <a:r>
              <a:t>Supported Founders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07727" y="2377440"/>
            <a:ext cx="2103120" cy="182880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07727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57028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7727" y="32918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EDE7"/>
                </a:solidFill>
                <a:latin typeface="Arial"/>
              </a:defRPr>
            </a:pPr>
            <a:r>
              <a:t>Events Hosted</a:t>
            </a:r>
            <a:br/>
            <a:r>
              <a:t>Globally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754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3EDE7"/>
                </a:solidFill>
                <a:latin typeface="Arial"/>
              </a:defRPr>
            </a:pPr>
            <a:r>
              <a:t>Real founders funded. Real investors educated. Real wealth created in underserved communities.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57028"/>
                </a:solidFill>
                <a:latin typeface="Arial"/>
              </a:defRPr>
            </a:pPr>
            <a:r>
              <a:t>DATA &amp;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Charts &amp;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2103120" cy="508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286000"/>
          <a:ext cx="53035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0" y="2286000"/>
          <a:ext cx="502920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57028"/>
                </a:solidFill>
                <a:latin typeface="Arial"/>
              </a:defRPr>
            </a:pPr>
            <a:r>
              <a:t>27 TOUCHPOINTS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B3533"/>
                </a:solidFill>
                <a:latin typeface="Arial"/>
              </a:defRPr>
            </a:pPr>
            <a:r>
              <a:t>Events — Virtual (13)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2103120" cy="508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Virtual Pitch for $1,000 — Sep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16352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7121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Virtual Pitch for $1,000 — Oct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015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Virtual Pitch Competition (CPG) — Nov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77056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Pitch Prep with Amiah — Oct 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07408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622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Practice Your Pitch with Sarah Anto — Aug 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7760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9262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Build Your 2026 Pitch Strategy (Dana Ammons) — Dec 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68112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Private Markets 101 (Part 1) — Sep 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286000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34086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Demystifying CDFI Funding with Coleman — Oct 14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816352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87121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Ask an Angel — Jul 31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346704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4015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Preparing to Raise Capital with Confidence — Sep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77056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9319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Welcome to Sengo Webinar — May 21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407408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4622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Sengo Founder Meetup: Angels &amp; VCs — Sep 18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937760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99262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Sengo Founder Meetup: Social Enterprise &amp; EdTech — Jul 22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468112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5229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IFundWomen Webinar — Jun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57028"/>
                </a:solidFill>
                <a:latin typeface="Arial"/>
              </a:defRPr>
            </a:pPr>
            <a:r>
              <a:t>27 TOUCHPOINTS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B3533"/>
                </a:solidFill>
                <a:latin typeface="Arial"/>
              </a:defRPr>
            </a:pPr>
            <a:r>
              <a:t>Events — In-Person (14)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2103120" cy="508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Fashion x Futures — LA (Jun 28)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16352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7121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Fashion x Futures — NY (Jul 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015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Fashion x Futures — LA Holiday Pop-Up (Nov 8–9)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77056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Galentine's Wine Club — Dallas (Feb 21)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07408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622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Brunch Wine Club — Dallas (Mar 15)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7760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9262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Sip Into Spring — Dallas (Mar 30)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68112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Wine Club — Dallas (Apr 9)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286000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34086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GirlMath x Sengo: Wed Night Write-Off (NY Tech Week, Jun 4)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816352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87121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Spill the Tea: AI &amp; Tech (LA Tech Week, Oct 14)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346704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4015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NY Tech Week Mixer (Sengo x Little More, Jun 4)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77056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9319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BBOP Center x Sengo Founder Workshop (Mar 28)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407408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4622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Funded &amp; Fearless Workshop (Apr 26)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937760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99262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Barcelona Black Women Entrepreneurs Mixer (Mar 13)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468112"/>
            <a:ext cx="5029200" cy="438912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5229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The Village Retreat — France (Jun 10–15)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6035040"/>
            <a:ext cx="9144000" cy="548640"/>
          </a:xfrm>
          <a:prstGeom prst="round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45920" y="610819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Key Insight: Events are most effective when they lead into readiness tools and structured next steps.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57028"/>
                </a:solidFill>
                <a:latin typeface="Arial"/>
              </a:defRPr>
            </a:pPr>
            <a:r>
              <a:t>SUCCESS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Case Studies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2103120" cy="508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029200" cy="411480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57028"/>
                </a:solidFill>
                <a:latin typeface="Arial"/>
              </a:defRPr>
            </a:pPr>
            <a:r>
              <a:t>Versed Wellness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3EDE7"/>
                </a:solidFill>
                <a:latin typeface="Arial"/>
              </a:defRPr>
            </a:pPr>
            <a:r>
              <a:t>Founder: Jasmine Bowie  |  Grant: $500 Micro-Grant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3EDE7"/>
                </a:solidFill>
                <a:latin typeface="Arial"/>
              </a:defRPr>
            </a:pPr>
            <a:r>
              <a:t>Impact:</a:t>
            </a:r>
            <a:br/>
            <a:r>
              <a:t>• Concept → physical prototype</a:t>
            </a:r>
            <a:br/>
            <a:r>
              <a:t>• 25 new customers acquired</a:t>
            </a:r>
            <a:br/>
            <a:r>
              <a:t>• Revenue increased post-grant</a:t>
            </a:r>
            <a:br/>
            <a:r>
              <a:t>• Founder chose not to raise capital prematurely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394960"/>
            <a:ext cx="4114800" cy="640080"/>
          </a:xfrm>
          <a:prstGeom prst="round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4864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Why it matters: Readiness includes knowing when not to fundraise.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5029200" cy="411480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57028"/>
                </a:solidFill>
                <a:latin typeface="Arial"/>
              </a:defRPr>
            </a:pPr>
            <a:r>
              <a:t>Satlyt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803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3EDE7"/>
                </a:solidFill>
                <a:latin typeface="Arial"/>
              </a:defRPr>
            </a:pPr>
            <a:r>
              <a:t>Founder: Rama Afullo  |  Grant: $3,000 Standard Grant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38328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3EDE7"/>
                </a:solidFill>
                <a:latin typeface="Arial"/>
              </a:defRPr>
            </a:pPr>
            <a:r>
              <a:t>Impact:</a:t>
            </a:r>
            <a:br/>
            <a:r>
              <a:t>• 10 new customers acquired</a:t>
            </a:r>
            <a:br/>
            <a:r>
              <a:t>• Operational capacity expanded</a:t>
            </a:r>
            <a:br/>
            <a:r>
              <a:t>• $3M raised post-Sengo</a:t>
            </a:r>
            <a:br/>
            <a:r>
              <a:t>• 12 new hires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5394960"/>
            <a:ext cx="4114800" cy="640080"/>
          </a:xfrm>
          <a:prstGeom prst="round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54864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Why it matters: Prepared founders convert early support into scalable outcomes.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57028"/>
                </a:solidFill>
                <a:latin typeface="Arial"/>
              </a:defRPr>
            </a:pPr>
            <a:r>
              <a:t>HOW WE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B3533"/>
                </a:solidFill>
                <a:latin typeface="Arial"/>
              </a:defRPr>
            </a:pPr>
            <a:r>
              <a:t>Readiness-First Capital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2103120" cy="508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533"/>
                </a:solidFill>
                <a:latin typeface="Arial"/>
              </a:defRPr>
            </a:pPr>
            <a:r>
              <a:t>Sengo is built around preparation before participation.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7441A"/>
                </a:solidFill>
                <a:latin typeface="Arial"/>
              </a:defRPr>
            </a:pPr>
            <a:r>
              <a:t>Technology:</a:t>
            </a:r>
            <a:br/>
            <a:r>
              <a:t>  • Fundraise Readiness Score</a:t>
            </a:r>
            <a:br/>
            <a:r>
              <a:t>  • Personalized Fundraise Roadmap</a:t>
            </a:r>
            <a:br/>
            <a:br/>
            <a:r>
              <a:t>Human Support:</a:t>
            </a:r>
            <a:br/>
            <a:r>
              <a:t>  • 1:1 advisory for founders at key inflection points</a:t>
            </a:r>
            <a:br/>
            <a:br/>
            <a:r>
              <a:t>Community Layer:</a:t>
            </a:r>
            <a:br/>
            <a:r>
              <a:t>  • Education, events, and peer learning</a:t>
            </a:r>
          </a:p>
        </p:txBody>
      </p:sp>
      <p:sp>
        <p:nvSpPr>
          <p:cNvPr id="8" name="Oval 7"/>
          <p:cNvSpPr/>
          <p:nvPr/>
        </p:nvSpPr>
        <p:spPr>
          <a:xfrm>
            <a:off x="7315200" y="3017520"/>
            <a:ext cx="2011680" cy="2011680"/>
          </a:xfrm>
          <a:prstGeom prst="ellipse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D57028"/>
                </a:solidFill>
              </a:defRPr>
            </a:pPr>
            <a:r>
              <a:t>SENGO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286000"/>
            <a:ext cx="1645920" cy="502920"/>
          </a:xfrm>
          <a:prstGeom prst="round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Technology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2926080"/>
            <a:ext cx="1645920" cy="502920"/>
          </a:xfrm>
          <a:prstGeom prst="round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Readiness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4572000"/>
            <a:ext cx="1645920" cy="502920"/>
          </a:xfrm>
          <a:prstGeom prst="round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Advisory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5029200"/>
            <a:ext cx="1645920" cy="502920"/>
          </a:xfrm>
          <a:prstGeom prst="round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Community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852160"/>
            <a:ext cx="10058400" cy="640080"/>
          </a:xfrm>
          <a:prstGeom prst="round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9436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Result: Better decisions, stronger outcomes, and healthier capital relationships.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57028"/>
                </a:solidFill>
                <a:latin typeface="Arial"/>
              </a:defRPr>
            </a:pPr>
            <a: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How Readiness Drives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2103120" cy="508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5167" y="2377440"/>
            <a:ext cx="1920240" cy="365760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63827" y="2606040"/>
            <a:ext cx="502920" cy="502920"/>
          </a:xfrm>
          <a:prstGeom prst="ellipse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3291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57028"/>
                </a:solidFill>
                <a:latin typeface="Arial"/>
              </a:defRPr>
            </a:pPr>
            <a: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3EDE7"/>
                </a:solidFill>
                <a:latin typeface="Arial"/>
              </a:defRPr>
            </a:pPr>
            <a:r>
              <a:t>Education</a:t>
            </a:r>
            <a:br/>
            <a:r>
              <a:t>Readiness technology</a:t>
            </a:r>
            <a:br/>
            <a:r>
              <a:t>Community spaces</a:t>
            </a:r>
            <a:br/>
            <a:r>
              <a:t>Grant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1127" y="3749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5702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5447" y="2377440"/>
            <a:ext cx="1920240" cy="365760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04107" y="2606040"/>
            <a:ext cx="502920" cy="502920"/>
          </a:xfrm>
          <a:prstGeom prst="ellipse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6887" y="3291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57028"/>
                </a:solidFill>
                <a:latin typeface="Arial"/>
              </a:defRPr>
            </a:pPr>
            <a:r>
              <a:t>Activities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6887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3EDE7"/>
                </a:solidFill>
                <a:latin typeface="Arial"/>
              </a:defRPr>
            </a:pPr>
            <a:r>
              <a:t>Assessments</a:t>
            </a:r>
            <a:br/>
            <a:r>
              <a:t>Roadmaps</a:t>
            </a:r>
            <a:br/>
            <a:r>
              <a:t>Workshops</a:t>
            </a:r>
            <a:br/>
            <a:r>
              <a:t>Advisory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1407" y="3749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5702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5727" y="2377440"/>
            <a:ext cx="1920240" cy="365760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44387" y="2606040"/>
            <a:ext cx="502920" cy="502920"/>
          </a:xfrm>
          <a:prstGeom prst="ellipse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7167" y="3291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57028"/>
                </a:solidFill>
                <a:latin typeface="Arial"/>
              </a:defRPr>
            </a:pPr>
            <a:r>
              <a:t>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7167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3EDE7"/>
                </a:solidFill>
                <a:latin typeface="Arial"/>
              </a:defRPr>
            </a:pPr>
            <a:r>
              <a:t>Prepared founders</a:t>
            </a:r>
            <a:br/>
            <a:r>
              <a:t>Informed funders</a:t>
            </a:r>
            <a:br/>
            <a:r>
              <a:t>Clear 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1687" y="3749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5702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6007" y="2377440"/>
            <a:ext cx="1920240" cy="365760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84667" y="2606040"/>
            <a:ext cx="502920" cy="502920"/>
          </a:xfrm>
          <a:prstGeom prst="ellipse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7447" y="3291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57028"/>
                </a:solidFill>
                <a:latin typeface="Arial"/>
              </a:defRPr>
            </a:pPr>
            <a:r>
              <a:t>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7447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3EDE7"/>
                </a:solidFill>
                <a:latin typeface="Arial"/>
              </a:defRPr>
            </a:pPr>
            <a:r>
              <a:t>Increased fundability</a:t>
            </a:r>
            <a:br/>
            <a:r>
              <a:t>when appropriate</a:t>
            </a:r>
            <a:br/>
            <a:r>
              <a:t>Reduced premature</a:t>
            </a:r>
            <a:br/>
            <a:r>
              <a:t>fundraising</a:t>
            </a:r>
            <a:br/>
            <a:r>
              <a:t>Stronger alignment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1967" y="3749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5702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16287" y="2377440"/>
            <a:ext cx="1920240" cy="365760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24947" y="2606040"/>
            <a:ext cx="502920" cy="502920"/>
          </a:xfrm>
          <a:prstGeom prst="ellipse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7727" y="3291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57028"/>
                </a:solidFill>
                <a:latin typeface="Arial"/>
              </a:defRPr>
            </a:pPr>
            <a:r>
              <a:t>Long-Term</a:t>
            </a:r>
            <a:br/>
            <a:r>
              <a:t>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7727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3EDE7"/>
                </a:solidFill>
                <a:latin typeface="Arial"/>
              </a:defRPr>
            </a:pPr>
            <a:r>
              <a:t>Communities that</a:t>
            </a:r>
            <a:br/>
            <a:r>
              <a:t>understand capital</a:t>
            </a:r>
            <a:br/>
            <a:r>
              <a:t>before seeking 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57028"/>
                </a:solidFill>
                <a:latin typeface="Arial"/>
              </a:defRPr>
            </a:pPr>
            <a:r>
              <a:t>WHAT WE RUN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B3533"/>
                </a:solidFill>
                <a:latin typeface="Arial"/>
              </a:defRPr>
            </a:pPr>
            <a:r>
              <a:t>Core Programs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2103120" cy="508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5029200" cy="822960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3591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5702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359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Fundraise Readiness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6974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A self-guided assessment to evaluate preparedness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90895" y="3246120"/>
            <a:ext cx="5029200" cy="822960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5215" y="3319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5702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295" y="33192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Fundraise Roadmap (1:1)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295" y="3657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Customized plans based on stage, goals, and gaps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206240"/>
            <a:ext cx="5029200" cy="822960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2793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5702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279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Membership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617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Education, tools, and community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90895" y="5166360"/>
            <a:ext cx="5029200" cy="822960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5215" y="52395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5702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295" y="52395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Events &amp; Third Spaces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295" y="5577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Structured learning + relationship-building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6126480"/>
            <a:ext cx="5029200" cy="822960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6199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57028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6199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Grant Programs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6537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EDE7"/>
                </a:solidFill>
                <a:latin typeface="Arial"/>
              </a:defRPr>
            </a:pPr>
            <a:r>
              <a:t>Flexible, non-dilutive capital to support readiness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57028"/>
                </a:solidFill>
                <a:latin typeface="Arial"/>
              </a:defRPr>
            </a:pPr>
            <a:r>
              <a:t>REFLECTIONS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What 2025 Taught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2103120" cy="508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57028"/>
                </a:solidFill>
                <a:latin typeface="Arial"/>
              </a:defRPr>
            </a:pPr>
            <a:r>
              <a:t>What We Learned: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029200" cy="50292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077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5702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3EDE7"/>
                </a:solidFill>
                <a:latin typeface="Arial"/>
              </a:defRPr>
            </a:pPr>
            <a:r>
              <a:t>Readiness beats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29000"/>
            <a:ext cx="5029200" cy="50292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021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5702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20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3EDE7"/>
                </a:solidFill>
                <a:latin typeface="Arial"/>
              </a:defRPr>
            </a:pPr>
            <a:r>
              <a:t>Events without follow-through create noise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029200" cy="50292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96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5702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3EDE7"/>
                </a:solidFill>
                <a:latin typeface="Arial"/>
              </a:defRPr>
            </a:pPr>
            <a:r>
              <a:t>Founders value clarity over volume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17720"/>
            <a:ext cx="5029200" cy="50292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908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5702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709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3EDE7"/>
                </a:solidFill>
                <a:latin typeface="Arial"/>
              </a:defRPr>
            </a:pPr>
            <a:r>
              <a:t>Pay-to-play limits discovery of strong builders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5029200" cy="50292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2852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57028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3EDE7"/>
                </a:solidFill>
                <a:latin typeface="Arial"/>
              </a:defRPr>
            </a:pPr>
            <a:r>
              <a:t>Small capital, deployed intentionally, creates outsized 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57028"/>
                </a:solidFill>
                <a:latin typeface="Arial"/>
              </a:defRPr>
            </a:pPr>
            <a:r>
              <a:t>Our Response: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834640"/>
            <a:ext cx="5029200" cy="50292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926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3EDE7"/>
                </a:solidFill>
                <a:latin typeface="Arial"/>
              </a:defRPr>
            </a:pPr>
            <a:r>
              <a:t>→ Fewer, clearer programs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429000"/>
            <a:ext cx="5029200" cy="50292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520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3EDE7"/>
                </a:solidFill>
                <a:latin typeface="Arial"/>
              </a:defRPr>
            </a:pPr>
            <a:r>
              <a:t>→ Free readiness tools for members &amp; non-members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023360"/>
            <a:ext cx="5029200" cy="50292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114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3EDE7"/>
                </a:solidFill>
                <a:latin typeface="Arial"/>
              </a:defRPr>
            </a:pPr>
            <a:r>
              <a:t>→ Deeper 1:1 support at critical moments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57028"/>
                </a:solidFill>
                <a:latin typeface="Arial"/>
              </a:defRPr>
            </a:pPr>
            <a: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B3533"/>
                </a:solidFill>
                <a:latin typeface="Arial"/>
              </a:defRPr>
            </a:pPr>
            <a:r>
              <a:t>Deepening the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2103120" cy="508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23847" y="2377440"/>
            <a:ext cx="9144000" cy="594360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06727" y="2446020"/>
            <a:ext cx="457200" cy="457200"/>
          </a:xfrm>
          <a:prstGeom prst="ellipse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8247" y="2468880"/>
            <a:ext cx="7955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3EDE7"/>
                </a:solidFill>
                <a:latin typeface="Arial"/>
              </a:defRPr>
            </a:pPr>
            <a:r>
              <a:t>Expand readiness technology &amp; impact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3847" y="3108960"/>
            <a:ext cx="9144000" cy="594360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06727" y="3177540"/>
            <a:ext cx="457200" cy="457200"/>
          </a:xfrm>
          <a:prstGeom prst="ellipse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8247" y="3200400"/>
            <a:ext cx="7955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3EDE7"/>
                </a:solidFill>
                <a:latin typeface="Arial"/>
              </a:defRPr>
            </a:pPr>
            <a:r>
              <a:t>Increase investor participation through education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23847" y="3840480"/>
            <a:ext cx="9144000" cy="594360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06727" y="3909060"/>
            <a:ext cx="457200" cy="457200"/>
          </a:xfrm>
          <a:prstGeom prst="ellipse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8247" y="3931920"/>
            <a:ext cx="7955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3EDE7"/>
                </a:solidFill>
                <a:latin typeface="Arial"/>
              </a:defRPr>
            </a:pPr>
            <a:r>
              <a:t>Scale repeatable programs into new cities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23847" y="4572000"/>
            <a:ext cx="9144000" cy="594360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06727" y="4640580"/>
            <a:ext cx="457200" cy="457200"/>
          </a:xfrm>
          <a:prstGeom prst="ellipse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8247" y="4663440"/>
            <a:ext cx="7955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3EDE7"/>
                </a:solidFill>
                <a:latin typeface="Arial"/>
              </a:defRPr>
            </a:pPr>
            <a:r>
              <a:t>Strengthen longitudinal data on founder outcomes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23847" y="5303520"/>
            <a:ext cx="9144000" cy="594360"/>
          </a:xfrm>
          <a:prstGeom prst="roundRect">
            <a:avLst/>
          </a:prstGeom>
          <a:solidFill>
            <a:srgbClr val="1B3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06727" y="5372100"/>
            <a:ext cx="457200" cy="457200"/>
          </a:xfrm>
          <a:prstGeom prst="ellipse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38247" y="5394960"/>
            <a:ext cx="7955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3EDE7"/>
                </a:solidFill>
                <a:latin typeface="Arial"/>
              </a:defRPr>
            </a:pPr>
            <a:r>
              <a:t>Continue prioritizing clarity, timing, and alignment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57028"/>
                </a:solidFill>
                <a:latin typeface="Arial"/>
              </a:defRPr>
            </a:pPr>
            <a:r>
              <a:t>GET INVOLVED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Arial"/>
              </a:defRPr>
            </a:pPr>
            <a:r>
              <a:t>Build With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651760"/>
            <a:ext cx="2103120" cy="508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9847" y="3200400"/>
            <a:ext cx="4572000" cy="41148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84167" y="325526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3EDE7"/>
                </a:solidFill>
                <a:latin typeface="Arial"/>
              </a:defRPr>
            </a:pPr>
            <a:r>
              <a:t>Join the Sengo community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9847" y="3703320"/>
            <a:ext cx="4572000" cy="41148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84167" y="375818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3EDE7"/>
                </a:solidFill>
                <a:latin typeface="Arial"/>
              </a:defRPr>
            </a:pPr>
            <a:r>
              <a:t>Partner on readiness, education, or grants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9847" y="4206240"/>
            <a:ext cx="4572000" cy="41148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4167" y="426110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3EDE7"/>
                </a:solidFill>
                <a:latin typeface="Arial"/>
              </a:defRPr>
            </a:pPr>
            <a:r>
              <a:t>Attend an event or workshop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9847" y="4709160"/>
            <a:ext cx="4572000" cy="411480"/>
          </a:xfrm>
          <a:prstGeom prst="roundRect">
            <a:avLst/>
          </a:prstGeom>
          <a:solidFill>
            <a:srgbClr val="2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4167" y="476402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3EDE7"/>
                </a:solidFill>
                <a:latin typeface="Arial"/>
              </a:defRPr>
            </a:pPr>
            <a:r>
              <a:t>Support founders building with intention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303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57028"/>
                </a:solidFill>
                <a:latin typeface="Arial"/>
              </a:defRPr>
            </a:pPr>
            <a:r>
              <a:t>Sengo believes capital should meet preparedness — not pressure.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F8145"/>
                </a:solidFill>
                <a:latin typeface="Arial"/>
              </a:defRPr>
            </a:pPr>
            <a:r>
              <a:t>SENGO  ·  Founded by Ila B. Corcoran  · 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94500"/>
            <a:ext cx="12191695" cy="63500"/>
          </a:xfrm>
          <a:prstGeom prst="rect">
            <a:avLst/>
          </a:prstGeom>
          <a:solidFill>
            <a:srgbClr val="D5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