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Membership Growth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D5702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150</c:v>
                </c:pt>
                <c:pt idx="1">
                  <c:v>300</c:v>
                </c:pt>
                <c:pt idx="2">
                  <c:v>450</c:v>
                </c:pt>
                <c:pt idx="3">
                  <c:v>600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Capital Raised by Stage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dPt>
            <c:idx val="0"/>
            <c:spPr>
              <a:solidFill>
                <a:srgbClr val="D57028"/>
              </a:solidFill>
            </c:spPr>
          </c:dPt>
          <c:dPt>
            <c:idx val="1"/>
            <c:spPr>
              <a:solidFill>
                <a:srgbClr val="717E36"/>
              </a:solidFill>
            </c:spPr>
          </c:dPt>
          <c:dPt>
            <c:idx val="2"/>
            <c:spPr>
              <a:solidFill>
                <a:srgbClr val="AF8145"/>
              </a:solidFill>
            </c:spPr>
          </c:dPt>
          <c:dPt>
            <c:idx val="3"/>
            <c:spPr>
              <a:solidFill>
                <a:srgbClr val="244A47"/>
              </a:solidFill>
            </c:spPr>
          </c:dPt>
          <c:cat>
            <c:strRef>
              <c:f>Sheet1!$A$2:$A$5</c:f>
              <c:strCache>
                <c:ptCount val="4"/>
                <c:pt idx="0">
                  <c:v>Pre-Seed</c:v>
                </c:pt>
                <c:pt idx="1">
                  <c:v>Seed</c:v>
                </c:pt>
                <c:pt idx="2">
                  <c:v>Series A</c:v>
                </c:pt>
                <c:pt idx="3">
                  <c:v>Grants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35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57028"/>
                </a:solidFill>
                <a:latin typeface="Arial"/>
              </a:defRPr>
            </a:pPr>
            <a:r>
              <a:t>SENGO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Arial"/>
              </a:defRPr>
            </a:pPr>
            <a:r>
              <a:t>2025 Impact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9184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3EDE7"/>
                </a:solidFill>
                <a:latin typeface="Arial"/>
              </a:defRPr>
            </a:pPr>
            <a:r>
              <a:t>A Year of Building Equitable Access to Funding,</a:t>
            </a:r>
            <a:br/>
            <a:r>
              <a:t>Education, and Private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663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F8145"/>
                </a:solidFill>
                <a:latin typeface="Arial"/>
              </a:defRPr>
            </a:pPr>
            <a:r>
              <a:t>From Proof of Concept to Scalable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F8145"/>
                </a:solidFill>
                <a:latin typeface="Arial"/>
              </a:defRPr>
            </a:pPr>
            <a:r>
              <a:t>For Community Members  ·  Partners  ·  Funders  ·  Press  ·  Ecosystem Allies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YEAR IN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3533"/>
                </a:solidFill>
                <a:latin typeface="Arial"/>
              </a:defRPr>
            </a:pPr>
            <a:r>
              <a:t>2025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533"/>
                </a:solidFill>
                <a:latin typeface="Arial"/>
              </a:defRPr>
            </a:pPr>
            <a:r>
              <a:t>Reimagining fundraising and investing through education, community, and access.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81047" y="3474720"/>
            <a:ext cx="8229600" cy="54864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55367" y="35478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EDE7"/>
                </a:solidFill>
                <a:latin typeface="Arial"/>
              </a:defRPr>
            </a:pPr>
            <a:r>
              <a:t>Official platform launch and first grant-funded 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81047" y="4160520"/>
            <a:ext cx="8229600" cy="54864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5367" y="42336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EDE7"/>
                </a:solidFill>
                <a:latin typeface="Arial"/>
              </a:defRPr>
            </a:pPr>
            <a:r>
              <a:t>Transitioned from experimentation (2024) to repeatable programs with measurable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1047" y="4846320"/>
            <a:ext cx="8229600" cy="54864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367" y="49194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EDE7"/>
                </a:solidFill>
                <a:latin typeface="Arial"/>
              </a:defRPr>
            </a:pPr>
            <a:r>
              <a:t>Combined education, technology, and non-dilutive capital into one ecosystem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81047" y="5532120"/>
            <a:ext cx="8229600" cy="54864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55367" y="5605272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EDE7"/>
                </a:solidFill>
                <a:latin typeface="Arial"/>
              </a:defRPr>
            </a:pPr>
            <a:r>
              <a:t>Served founders, funders, and partners across the U.S. and internationally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Highlights &amp; Impact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95147" y="2468880"/>
            <a:ext cx="2560320" cy="201168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147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57028"/>
                </a:solidFill>
                <a:latin typeface="Arial"/>
              </a:defRPr>
            </a:pPr>
            <a:r>
              <a:t>$5M+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147" y="3566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3EDE7"/>
                </a:solidFill>
                <a:latin typeface="Arial"/>
              </a:defRPr>
            </a:pPr>
            <a:r>
              <a:t>Raised by</a:t>
            </a:r>
            <a:br/>
            <a:r>
              <a:t>Founders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5507" y="2468880"/>
            <a:ext cx="2560320" cy="201168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75507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57028"/>
                </a:solidFill>
                <a:latin typeface="Arial"/>
              </a:defRPr>
            </a:pPr>
            <a: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5507" y="3566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3EDE7"/>
                </a:solidFill>
                <a:latin typeface="Arial"/>
              </a:defRPr>
            </a:pPr>
            <a:r>
              <a:t>Active App</a:t>
            </a:r>
            <a:br/>
            <a:r>
              <a:t>Members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468880"/>
            <a:ext cx="2560320" cy="201168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5867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57028"/>
                </a:solidFill>
                <a:latin typeface="Arial"/>
              </a:defRPr>
            </a:pPr>
            <a:r>
              <a:t>90+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3566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3EDE7"/>
                </a:solidFill>
                <a:latin typeface="Arial"/>
              </a:defRPr>
            </a:pPr>
            <a:r>
              <a:t>Annual</a:t>
            </a:r>
            <a:br/>
            <a:r>
              <a:t>Touchpoints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6227" y="2468880"/>
            <a:ext cx="2560320" cy="201168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6227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57028"/>
                </a:solidFill>
                <a:latin typeface="Arial"/>
              </a:defRPr>
            </a:pPr>
            <a:r>
              <a:t>167X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6227" y="3566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3EDE7"/>
                </a:solidFill>
                <a:latin typeface="Arial"/>
              </a:defRPr>
            </a:pPr>
            <a:r>
              <a:t>Return on</a:t>
            </a:r>
            <a:br/>
            <a:r>
              <a:t>Grants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937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3EDE7"/>
                </a:solidFill>
                <a:latin typeface="Arial"/>
              </a:defRPr>
            </a:pPr>
            <a:r>
              <a:t>These numbers represent more than metrics — they represent real founders funded, real investors educated, and real wealth created in underserved communities.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GROWTH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Charts &amp; Trends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2377440"/>
          <a:ext cx="502920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0" y="2377440"/>
          <a:ext cx="5029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3533"/>
                </a:solidFill>
                <a:latin typeface="Arial"/>
              </a:defRPr>
            </a:pPr>
            <a:r>
              <a:t>Events &amp; Gatherings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727" y="2377440"/>
            <a:ext cx="2560320" cy="3657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5247" y="2651760"/>
            <a:ext cx="1097280" cy="41148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607" y="3291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Founder Pitch Night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607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EDE7"/>
                </a:solidFill>
                <a:latin typeface="Arial"/>
              </a:defRPr>
            </a:pPr>
            <a:r>
              <a:t>Live pitch event connecting founders</a:t>
            </a:r>
            <a:br/>
            <a:r>
              <a:t>with angel investors and VCs.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377440"/>
            <a:ext cx="2560320" cy="3657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29887" y="2651760"/>
            <a:ext cx="1097280" cy="41148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1247" y="3291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Funder Education</a:t>
            </a:r>
            <a:br/>
            <a:r>
              <a:t>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247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EDE7"/>
                </a:solidFill>
                <a:latin typeface="Arial"/>
              </a:defRPr>
            </a:pPr>
            <a:r>
              <a:t>Workshop series teaching new investors</a:t>
            </a:r>
            <a:br/>
            <a:r>
              <a:t>how to evaluate early-stage deals.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377440"/>
            <a:ext cx="2560320" cy="3657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64527" y="2651760"/>
            <a:ext cx="1097280" cy="41148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91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Annual Impact</a:t>
            </a:r>
            <a:br/>
            <a:r>
              <a:t>Summit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EDE7"/>
                </a:solidFill>
                <a:latin typeface="Arial"/>
              </a:defRPr>
            </a:pPr>
            <a:r>
              <a:t>Flagship event bringing members</a:t>
            </a:r>
            <a:br/>
            <a:r>
              <a:t>together for networking and learning.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7647" y="2377440"/>
            <a:ext cx="2560320" cy="3657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99167" y="2651760"/>
            <a:ext cx="1097280" cy="41148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3291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Demo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38912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3EDE7"/>
                </a:solidFill>
                <a:latin typeface="Arial"/>
              </a:defRPr>
            </a:pPr>
            <a:r>
              <a:t>Showcasing top portfolio companies</a:t>
            </a:r>
            <a:br/>
            <a:r>
              <a:t>to a curated investor audience.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SUCCESS STORIES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Case Studies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9487" y="2286000"/>
            <a:ext cx="3200400" cy="402336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8087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57028"/>
                </a:solidFill>
                <a:latin typeface="Arial"/>
              </a:defRPr>
            </a:pPr>
            <a:r>
              <a:t>Founder Spotlight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8087" y="32004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A first-time founder joined Sengo's education program, refined their pitch through our workshops, and connected with an investor at Pitch Night. Within 6 months, they closed a pre-seed round through our ecosystem.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3847" y="5486400"/>
            <a:ext cx="201168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Capital Secured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5647" y="2286000"/>
            <a:ext cx="3200400" cy="402336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4247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57028"/>
                </a:solidFill>
                <a:latin typeface="Arial"/>
              </a:defRPr>
            </a:pPr>
            <a:r>
              <a:t>Funder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247" y="32004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A new investor enrolled in our Funder Education Series with zero investing experience. After completing the program, they made their first angel investments through Sengo's curated deal flow pipeline.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0007" y="5486400"/>
            <a:ext cx="201168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Investor Activated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2286000"/>
            <a:ext cx="3200400" cy="402336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407" y="2560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57028"/>
                </a:solidFill>
                <a:latin typeface="Arial"/>
              </a:defRPr>
            </a:pPr>
            <a:r>
              <a:t>Community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407" y="32004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Through our grant programs and mentorship network, a cohort of underrepresented founders received non-dilutive capital and guidance, resulting in a combined 167X return on grant capital deployed.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6167" y="5486400"/>
            <a:ext cx="201168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167X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3533"/>
                </a:solidFill>
                <a:latin typeface="Arial"/>
              </a:defRPr>
            </a:pPr>
            <a:r>
              <a:t>Our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7441A"/>
                </a:solidFill>
                <a:latin typeface="Arial"/>
              </a:defRPr>
            </a:pPr>
            <a:r>
              <a:t>Sengo combines education, technology, and non-dilutive capital into one integrated ecosystem.</a:t>
            </a:r>
            <a:br/>
            <a:br/>
            <a:r>
              <a:t>Our model connects three key pathways:</a:t>
            </a:r>
            <a:br/>
            <a:br/>
            <a:r>
              <a:t>• Founders — Access education, resources, and funding</a:t>
            </a:r>
            <a:br/>
            <a:r>
              <a:t>  opportunities to prepare to scale.</a:t>
            </a:r>
            <a:br/>
            <a:br/>
            <a:r>
              <a:t>• Funders — Learn how to invest in early-stage companies</a:t>
            </a:r>
            <a:br/>
            <a:r>
              <a:t>  and discover high-potential deal flow.</a:t>
            </a:r>
            <a:br/>
            <a:br/>
            <a:r>
              <a:t>• Both — Full access to founder and funder resources</a:t>
            </a:r>
            <a:br/>
            <a:r>
              <a:t>  for those who build and invest simultaneously.</a:t>
            </a:r>
          </a:p>
        </p:txBody>
      </p:sp>
      <p:sp>
        <p:nvSpPr>
          <p:cNvPr id="7" name="Oval 6"/>
          <p:cNvSpPr/>
          <p:nvPr/>
        </p:nvSpPr>
        <p:spPr>
          <a:xfrm>
            <a:off x="7315200" y="3017520"/>
            <a:ext cx="2011680" cy="2011680"/>
          </a:xfrm>
          <a:prstGeom prst="ellipse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D57028"/>
                </a:solidFill>
              </a:defRPr>
            </a:pPr>
            <a:r>
              <a:t>SENGO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286000"/>
            <a:ext cx="164592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Education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926080"/>
            <a:ext cx="164592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4572000"/>
            <a:ext cx="164592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Capital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5029200"/>
            <a:ext cx="1645920" cy="50292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Community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Theory of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5167" y="2377440"/>
            <a:ext cx="1920240" cy="329184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3827" y="2606040"/>
            <a:ext cx="502920" cy="50292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6607" y="3291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7028"/>
                </a:solidFill>
                <a:latin typeface="Arial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607" y="384048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3EDE7"/>
                </a:solidFill>
                <a:latin typeface="Arial"/>
              </a:defRPr>
            </a:pPr>
            <a:r>
              <a:t>Wealth gap in private</a:t>
            </a:r>
            <a:br/>
            <a:r>
              <a:t>assets excludes under-</a:t>
            </a:r>
            <a:br/>
            <a:r>
              <a:t>represented founders</a:t>
            </a:r>
            <a:br/>
            <a:r>
              <a:t>&amp; investors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1127" y="35661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5702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5447" y="2377440"/>
            <a:ext cx="1920240" cy="329184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4107" y="2606040"/>
            <a:ext cx="502920" cy="50292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6887" y="3291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7028"/>
                </a:solidFill>
                <a:latin typeface="Arial"/>
              </a:defRPr>
            </a:pPr>
            <a:r>
              <a:t>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6887" y="384048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3EDE7"/>
                </a:solidFill>
                <a:latin typeface="Arial"/>
              </a:defRPr>
            </a:pPr>
            <a:r>
              <a:t>Education + community</a:t>
            </a:r>
            <a:br/>
            <a:r>
              <a:t>+ technology + non-</a:t>
            </a:r>
            <a:br/>
            <a:r>
              <a:t>dilutive capital in one</a:t>
            </a:r>
            <a:br/>
            <a:r>
              <a:t>integrated ecosystem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1407" y="35661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5702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5727" y="2377440"/>
            <a:ext cx="1920240" cy="329184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44387" y="2606040"/>
            <a:ext cx="502920" cy="50292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7167" y="3291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7028"/>
                </a:solidFill>
                <a:latin typeface="Arial"/>
              </a:defRPr>
            </a:pPr>
            <a:r>
              <a:t>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7167" y="384048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3EDE7"/>
                </a:solidFill>
                <a:latin typeface="Arial"/>
              </a:defRPr>
            </a:pPr>
            <a:r>
              <a:t>600 members, 90+</a:t>
            </a:r>
            <a:br/>
            <a:r>
              <a:t>touchpoints, workshops,</a:t>
            </a:r>
            <a:br/>
            <a:r>
              <a:t>pitch events, and</a:t>
            </a:r>
            <a:br/>
            <a:r>
              <a:t>funding 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1687" y="35661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5702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6007" y="2377440"/>
            <a:ext cx="1920240" cy="329184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84667" y="2606040"/>
            <a:ext cx="502920" cy="50292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447" y="3291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7028"/>
                </a:solidFill>
                <a:latin typeface="Arial"/>
              </a:defRPr>
            </a:pPr>
            <a:r>
              <a:t>Outcomes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7447" y="384048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3EDE7"/>
                </a:solidFill>
                <a:latin typeface="Arial"/>
              </a:defRPr>
            </a:pPr>
            <a:r>
              <a:t>$5M+ raised, 167X</a:t>
            </a:r>
            <a:br/>
            <a:r>
              <a:t>return on grants,</a:t>
            </a:r>
            <a:br/>
            <a:r>
              <a:t>new investors activated,</a:t>
            </a:r>
            <a:br/>
            <a:r>
              <a:t>founder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1967" y="35661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D5702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6287" y="2377440"/>
            <a:ext cx="1920240" cy="329184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4947" y="2606040"/>
            <a:ext cx="502920" cy="50292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7727" y="3291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7028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7727" y="384048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3EDE7"/>
                </a:solidFill>
                <a:latin typeface="Arial"/>
              </a:defRPr>
            </a:pPr>
            <a:r>
              <a:t>A more equitable</a:t>
            </a:r>
            <a:br/>
            <a:r>
              <a:t>entrepreneurial ecosystem</a:t>
            </a:r>
            <a:br/>
            <a:r>
              <a:t>where access to capital</a:t>
            </a:r>
            <a:br/>
            <a:r>
              <a:t>is democratized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WHAT WE 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3533"/>
                </a:solidFill>
                <a:latin typeface="Arial"/>
              </a:defRPr>
            </a:pPr>
            <a:r>
              <a:t>Core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2286000"/>
            <a:ext cx="5029200" cy="1371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5702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Founder Enrollment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7889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Comprehensive program preparing founders to scale — pitch</a:t>
            </a:r>
            <a:br/>
            <a:r>
              <a:t>prep, financial modeling, and investor readiness.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0895" y="3886200"/>
            <a:ext cx="5029200" cy="1371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65215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5702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295" y="4023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Funder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43891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Teaching new investors how to evaluate deals, understand</a:t>
            </a:r>
            <a:br/>
            <a:r>
              <a:t>term sheets, and build diversified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5486400"/>
            <a:ext cx="5029200" cy="1371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5623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5702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623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All-Access 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9893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For those who build and invest — full access to both</a:t>
            </a:r>
            <a:br/>
            <a:r>
              <a:t>founder and funder resources and events.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0895" y="7086600"/>
            <a:ext cx="5029200" cy="137160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65215" y="7223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D57028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295" y="7223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Curated Deal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5295" y="75895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3EDE7"/>
                </a:solidFill>
                <a:latin typeface="Arial"/>
              </a:defRPr>
            </a:pPr>
            <a:r>
              <a:t>Vetted investment opportunities connecting funders with</a:t>
            </a:r>
            <a:br/>
            <a:r>
              <a:t>high-potential startups in our network.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REFLECTIONS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Key Learnings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23847" y="2286000"/>
            <a:ext cx="9144000" cy="68580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98167" y="2377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6807" y="23957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Community is currency — authentic relationships drive better outcomes than transactional networking.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3847" y="3108960"/>
            <a:ext cx="9144000" cy="68580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98167" y="32004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6807" y="3218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Education-first approach works — founders who complete our programs raise capital faster and more effectively.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3847" y="3931920"/>
            <a:ext cx="9144000" cy="68580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8167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6807" y="4041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Non-dilutive capital matters — combining grants with education creates outsized impact (167X return).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3847" y="4754880"/>
            <a:ext cx="9144000" cy="68580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98167" y="484632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6807" y="48646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Access is the biggest barrier — when we remove structural barriers, underrepresented founders thrive.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3847" y="5577840"/>
            <a:ext cx="9144000" cy="685800"/>
          </a:xfrm>
          <a:prstGeom prst="roundRect">
            <a:avLst/>
          </a:prstGeom>
          <a:solidFill>
            <a:srgbClr val="244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98167" y="566928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6807" y="56875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Both sides need support — funders need education just as much as founders need capital.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3533"/>
                </a:solidFill>
                <a:latin typeface="Arial"/>
              </a:defRPr>
            </a:pPr>
            <a:r>
              <a:t>2026 Priorities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029200" cy="155448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788920"/>
            <a:ext cx="548640" cy="54864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68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Scale the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9260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Grow membership and deepen engagement</a:t>
            </a:r>
            <a:br/>
            <a:r>
              <a:t>across all founder, funder, and dual pathways.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029200" cy="155448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2788920"/>
            <a:ext cx="548640" cy="54864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4688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Launch Sengo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9260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Establish a dedicated fund to directly invest</a:t>
            </a:r>
            <a:br/>
            <a:r>
              <a:t>in portfolio companies from our ecosystem.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029200" cy="155448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617720"/>
            <a:ext cx="548640" cy="54864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97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Expand Programming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7548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Scale repeatable programs with measurable outcomes</a:t>
            </a:r>
            <a:br/>
            <a:r>
              <a:t>across regions and internationally.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114800"/>
            <a:ext cx="5029200" cy="1554480"/>
          </a:xfrm>
          <a:prstGeom prst="roundRect">
            <a:avLst/>
          </a:prstGeom>
          <a:solidFill>
            <a:srgbClr val="1B3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617720"/>
            <a:ext cx="548640" cy="548640"/>
          </a:xfrm>
          <a:prstGeom prst="ellipse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97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7028"/>
                </a:solidFill>
                <a:latin typeface="Arial"/>
              </a:defRPr>
            </a:pPr>
            <a:r>
              <a:t>Deepen Partnerships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7548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EDE7"/>
                </a:solidFill>
                <a:latin typeface="Arial"/>
              </a:defRPr>
            </a:pPr>
            <a:r>
              <a:t>Build strategic alliances with accelerators,</a:t>
            </a:r>
            <a:br/>
            <a:r>
              <a:t>corporations, and institutional investors.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7028"/>
                </a:solidFill>
                <a:latin typeface="Arial"/>
              </a:defRPr>
            </a:pPr>
            <a:r>
              <a:t>RECOGNITION &amp;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Strategic Partnerships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82880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3EDE7"/>
                </a:solidFill>
                <a:latin typeface="Arial"/>
              </a:defRPr>
            </a:pPr>
            <a:r>
              <a:t>Sengo's mission and impact have been recognized across major media and entrepreneurial platforms nationwide.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6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6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Forbes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54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54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NerdWallet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42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42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Nasdaq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Black Girl</a:t>
            </a:r>
            <a:br/>
            <a:r>
              <a:t>Ventures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18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18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Business</a:t>
            </a:r>
            <a:br/>
            <a:r>
              <a:t>Insider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90607" y="3291840"/>
            <a:ext cx="15544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90607" y="3566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3533"/>
                </a:solidFill>
                <a:latin typeface="Arial"/>
              </a:defRPr>
            </a:pPr>
            <a:r>
              <a:t>Build in</a:t>
            </a:r>
            <a:br/>
            <a:r>
              <a:t>Tulsa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3EDE7"/>
                </a:solidFill>
                <a:latin typeface="Arial"/>
              </a:defRPr>
            </a:pPr>
            <a:r>
              <a:t>We're actively building partnerships with accelerators, angel networks, venture funds, and corporate innovation teams to expand our impact in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57028"/>
                </a:solidFill>
                <a:latin typeface="Arial"/>
              </a:defRPr>
            </a:pPr>
            <a:r>
              <a:t>GET INVOLVED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Arial"/>
              </a:defRPr>
            </a:pPr>
            <a:r>
              <a:t>Join the Movement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651760"/>
            <a:ext cx="2103120" cy="508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3108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3EDE7"/>
                </a:solidFill>
                <a:latin typeface="Arial"/>
              </a:defRPr>
            </a:pPr>
            <a:r>
              <a:t>Together, we're closing the wealth gap in private assets and creating a more equitable future for founders and funders alike. The best is yet to come.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0967" y="4572000"/>
            <a:ext cx="2926080" cy="68580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I'm a Founder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0967" y="5303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F8145"/>
                </a:solidFill>
                <a:latin typeface="Arial"/>
              </a:defRPr>
            </a:pPr>
            <a:r>
              <a:t>app.bysengo.com/founder-enrollment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2807" y="4572000"/>
            <a:ext cx="2926080" cy="68580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I'm a Funder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2807" y="5303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F8145"/>
                </a:solidFill>
                <a:latin typeface="Arial"/>
              </a:defRPr>
            </a:pPr>
            <a:r>
              <a:t>app.bysengo.com/investor-enrollment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4647" y="4572000"/>
            <a:ext cx="2926080" cy="685800"/>
          </a:xfrm>
          <a:prstGeom prst="round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I'm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647" y="53035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F8145"/>
                </a:solidFill>
                <a:latin typeface="Arial"/>
              </a:defRPr>
            </a:pPr>
            <a:r>
              <a:t>app.bysengo.com/allaccess-enrollment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F8145"/>
                </a:solidFill>
                <a:latin typeface="Arial"/>
              </a:defRPr>
            </a:pPr>
            <a:r>
              <a:t>SENGO  ·  Reimagining Fundraising &amp; Investing  · 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D5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